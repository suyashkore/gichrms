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Proxima Nova"/>
      <p:regular r:id="rId21"/>
      <p:bold r:id="rId22"/>
      <p:italic r:id="rId23"/>
      <p:boldItalic r:id="rId24"/>
    </p:embeddedFont>
    <p:embeddedFont>
      <p:font typeface="Alfa Slab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5A4F00-21B3-4282-9594-B13A5F7F6204}">
  <a:tblStyle styleId="{615A4F00-21B3-4282-9594-B13A5F7F62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AlfaSlab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88252dc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88252dc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a55008eda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a55008eda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318d9dd86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318d9dd86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5a55008eda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5a55008eda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f88252dc4_0_1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f88252dc4_0_1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a55008eda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5a55008eda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318d9dd86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318d9dd86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318d9dd86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318d9dd86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318d9dd865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318d9dd865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Confidential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Customized for </a:t>
            </a:r>
            <a:r>
              <a:rPr b="1"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Lorem Ipsum LLC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Version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14">
            <a:hlinkClick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4">
            <a:hlinkClick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" name="Google Shape;66;p14">
            <a:hlinkClick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14">
            <a:hlinkClick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9" name="Google Shape;69;p15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2" name="Google Shape;72;p15">
            <a:hlinkClick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15">
            <a:hlinkClick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>
            <a:hlinkClick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5">
            <a:hlinkClick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_2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16">
            <a:hlinkClick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" name="Google Shape;81;p16">
            <a:hlinkClick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>
            <a:hlinkClick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>
            <a:hlinkClick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86" name="Google Shape;86;p17"/>
          <p:cNvPicPr preferRelativeResize="0"/>
          <p:nvPr/>
        </p:nvPicPr>
        <p:blipFill rotWithShape="1">
          <a:blip r:embed="rId2">
            <a:alphaModFix/>
          </a:blip>
          <a:srcRect b="23591" l="0" r="0" t="21799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4" name="Google Shape;94;p17">
            <a:hlinkClick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7">
            <a:hlinkClick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>
            <a:hlinkClick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>
            <a:hlinkClick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ctrTitle"/>
          </p:nvPr>
        </p:nvSpPr>
        <p:spPr>
          <a:xfrm>
            <a:off x="749850" y="520775"/>
            <a:ext cx="7644300" cy="16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920">
                <a:solidFill>
                  <a:srgbClr val="000000"/>
                </a:solidFill>
              </a:rPr>
              <a:t>Consulting Proposal for Padgilwar Corporation</a:t>
            </a:r>
            <a:endParaRPr sz="4460"/>
          </a:p>
        </p:txBody>
      </p:sp>
      <p:sp>
        <p:nvSpPr>
          <p:cNvPr id="103" name="Google Shape;103;p18"/>
          <p:cNvSpPr txBox="1"/>
          <p:nvPr>
            <p:ph idx="1" type="subTitle"/>
          </p:nvPr>
        </p:nvSpPr>
        <p:spPr>
          <a:xfrm>
            <a:off x="2126538" y="3991272"/>
            <a:ext cx="48909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6FA8DC"/>
                </a:solidFill>
              </a:rPr>
              <a:t>Discover . Learn . Evolve</a:t>
            </a:r>
            <a:endParaRPr b="1" sz="2200">
              <a:solidFill>
                <a:srgbClr val="6FA8DC"/>
              </a:solidFill>
            </a:endParaRPr>
          </a:p>
        </p:txBody>
      </p:sp>
      <p:pic>
        <p:nvPicPr>
          <p:cNvPr descr="Pad Corp"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25" y="1126734"/>
            <a:ext cx="14859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1032" y="3179225"/>
            <a:ext cx="2041929" cy="81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Padgilwar Corporation Overview 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11700" y="1110950"/>
            <a:ext cx="8298300" cy="38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</a:rPr>
              <a:t>PadCorp was aware of acute labour shortage problem faced by small farmers across country. To solve the problems of these farmers, PadCorp introduced </a:t>
            </a:r>
            <a:r>
              <a:rPr b="1" lang="en-GB" sz="1400">
                <a:solidFill>
                  <a:srgbClr val="000000"/>
                </a:solidFill>
              </a:rPr>
              <a:t>Affordable and Purpose serving Agricultural Equipments</a:t>
            </a:r>
            <a:r>
              <a:rPr lang="en-GB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n-GB" sz="1400">
                <a:solidFill>
                  <a:srgbClr val="000000"/>
                </a:solidFill>
              </a:rPr>
              <a:t>D</a:t>
            </a:r>
            <a:r>
              <a:rPr lang="en-GB" sz="1400">
                <a:solidFill>
                  <a:srgbClr val="000000"/>
                </a:solidFill>
              </a:rPr>
              <a:t>elivering agricultural equipments for </a:t>
            </a:r>
            <a:r>
              <a:rPr b="1" lang="en-GB" sz="1400">
                <a:solidFill>
                  <a:srgbClr val="000000"/>
                </a:solidFill>
              </a:rPr>
              <a:t>more than 60 years.</a:t>
            </a:r>
            <a:r>
              <a:rPr lang="en-GB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n-GB" sz="1400">
                <a:solidFill>
                  <a:srgbClr val="000000"/>
                </a:solidFill>
              </a:rPr>
              <a:t>Providing Top Quality Agricultural Products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n-GB" sz="1400">
                <a:solidFill>
                  <a:srgbClr val="000000"/>
                </a:solidFill>
              </a:rPr>
              <a:t>All products are Tested and Checked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n-GB" sz="1400">
                <a:solidFill>
                  <a:srgbClr val="000000"/>
                </a:solidFill>
              </a:rPr>
              <a:t>Top Quality Finished Accessories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lang="en-GB" sz="1400">
                <a:solidFill>
                  <a:srgbClr val="000000"/>
                </a:solidFill>
              </a:rPr>
              <a:t>Easily Available Spare Parts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b="1" lang="en-GB" sz="1400">
                <a:solidFill>
                  <a:srgbClr val="000000"/>
                </a:solidFill>
              </a:rPr>
              <a:t>Farmers’ </a:t>
            </a:r>
            <a:r>
              <a:rPr b="1" lang="en-GB" sz="1400">
                <a:solidFill>
                  <a:srgbClr val="000000"/>
                </a:solidFill>
              </a:rPr>
              <a:t>Trusted</a:t>
            </a:r>
            <a:r>
              <a:rPr b="1" lang="en-GB" sz="1400">
                <a:solidFill>
                  <a:srgbClr val="000000"/>
                </a:solidFill>
              </a:rPr>
              <a:t> Brand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</a:pPr>
            <a:r>
              <a:rPr b="1" lang="en-GB" sz="1400">
                <a:solidFill>
                  <a:srgbClr val="000000"/>
                </a:solidFill>
              </a:rPr>
              <a:t>1200+ Dealer Across India</a:t>
            </a:r>
            <a:endParaRPr b="1" sz="1400">
              <a:solidFill>
                <a:srgbClr val="000000"/>
              </a:solidFill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525" y="2003375"/>
            <a:ext cx="2813725" cy="281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PadCorp Products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5850" y="157550"/>
            <a:ext cx="2873400" cy="16747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20"/>
          <p:cNvGraphicFramePr/>
          <p:nvPr/>
        </p:nvGraphicFramePr>
        <p:xfrm>
          <a:off x="464100" y="112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{615A4F00-21B3-4282-9594-B13A5F7F6204}</a:tableStyleId>
              </a:tblPr>
              <a:tblGrid>
                <a:gridCol w="1362350"/>
                <a:gridCol w="255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Product Category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Product Subcategory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Battery Sprayers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Battery Operated Sprayer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2IN1 Battery Operated Sprayer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Double Motor Sprayer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Portable Sprayer Cum Car Washer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Manual &amp; Garden Sprayers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Manual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Manual Garden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Battery Operated Garden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Engine Operated Sprayers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Knapsack Engine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HTP Engine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Portable Engine Sprayers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Machinery &amp; Others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Fogging Machine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Plant Trimmer &amp; Seeding Machine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Earth Auger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Crop Cutter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0" name="Google Shape;120;p20"/>
          <p:cNvGraphicFramePr/>
          <p:nvPr/>
        </p:nvGraphicFramePr>
        <p:xfrm>
          <a:off x="4899450" y="196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{615A4F00-21B3-4282-9594-B13A5F7F6204}</a:tableStyleId>
              </a:tblPr>
              <a:tblGrid>
                <a:gridCol w="1535325"/>
                <a:gridCol w="2090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Products Category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Product Subcategory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Accessories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Spare Parts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Sprayer Batteries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Crop Cutter Accessories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Sprayer Gun &amp; Lance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Equipments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Pressure Hose Pipe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Tarpaulin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Trap Pad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Auto Switch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Safety Products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Garden &amp; Tools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Gardening Sprayer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Gardening Tools</a:t>
                      </a:r>
                      <a:endParaRPr sz="120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729450" y="489575"/>
            <a:ext cx="7010100" cy="73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accent3"/>
                </a:solidFill>
              </a:rPr>
              <a:t>Proposal Objective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126" name="Google Shape;126;p21"/>
          <p:cNvSpPr txBox="1"/>
          <p:nvPr>
            <p:ph idx="4294967295" type="body"/>
          </p:nvPr>
        </p:nvSpPr>
        <p:spPr>
          <a:xfrm>
            <a:off x="729450" y="1749350"/>
            <a:ext cx="5494500" cy="26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Enhance the digital presence and engage more agricultural product dealers for PadCorp across India.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000">
                <a:solidFill>
                  <a:srgbClr val="000000"/>
                </a:solidFill>
              </a:rPr>
              <a:t>Deliver best digital marketing services to PadCorp and its dealers.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7800" l="0" r="37578" t="0"/>
          <a:stretch/>
        </p:blipFill>
        <p:spPr>
          <a:xfrm>
            <a:off x="6335125" y="1749350"/>
            <a:ext cx="2318825" cy="24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PadCorp Current Online Presence</a:t>
            </a:r>
            <a:endParaRPr/>
          </a:p>
        </p:txBody>
      </p:sp>
      <p:graphicFrame>
        <p:nvGraphicFramePr>
          <p:cNvPr id="133" name="Google Shape;133;p22"/>
          <p:cNvGraphicFramePr/>
          <p:nvPr/>
        </p:nvGraphicFramePr>
        <p:xfrm>
          <a:off x="1858513" y="118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{615A4F00-21B3-4282-9594-B13A5F7F6204}</a:tableStyleId>
              </a:tblPr>
              <a:tblGrid>
                <a:gridCol w="1822425"/>
                <a:gridCol w="360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YouTube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10.3K Subscribers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229 Videos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LinkedIn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524 Followers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 Employees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Massive activities 2 yrs back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Facebook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30K Followers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29K likes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Extensive activities on platform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Instagram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1429 Followers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737 Posts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Extensive activities on platform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Twitter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14 followers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Extensive activities on platform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729450" y="489575"/>
            <a:ext cx="7010100" cy="3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accent3"/>
                </a:solidFill>
              </a:rPr>
              <a:t>Proposed Solution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139" name="Google Shape;139;p23"/>
          <p:cNvSpPr txBox="1"/>
          <p:nvPr>
            <p:ph idx="4294967295" type="body"/>
          </p:nvPr>
        </p:nvSpPr>
        <p:spPr>
          <a:xfrm>
            <a:off x="4091350" y="1580675"/>
            <a:ext cx="36483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000">
                <a:solidFill>
                  <a:srgbClr val="000000"/>
                </a:solidFill>
              </a:rPr>
              <a:t>360° Digital Marketing Services: Strategy + Comprehensive Approach</a:t>
            </a:r>
            <a:endParaRPr sz="3000">
              <a:solidFill>
                <a:srgbClr val="000000"/>
              </a:solidFill>
            </a:endParaRPr>
          </a:p>
        </p:txBody>
      </p:sp>
      <p:pic>
        <p:nvPicPr>
          <p:cNvPr id="140" name="Google Shape;140;p23"/>
          <p:cNvPicPr preferRelativeResize="0"/>
          <p:nvPr/>
        </p:nvPicPr>
        <p:blipFill rotWithShape="1">
          <a:blip r:embed="rId3">
            <a:alphaModFix/>
          </a:blip>
          <a:srcRect b="11071" l="0" r="0" t="7641"/>
          <a:stretch/>
        </p:blipFill>
        <p:spPr>
          <a:xfrm>
            <a:off x="348900" y="1580663"/>
            <a:ext cx="3648206" cy="296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Target</a:t>
            </a:r>
            <a:r>
              <a:rPr lang="en-GB"/>
              <a:t> Clientele</a:t>
            </a:r>
            <a:endParaRPr/>
          </a:p>
        </p:txBody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GB" sz="2000">
                <a:solidFill>
                  <a:srgbClr val="000000"/>
                </a:solidFill>
              </a:rPr>
              <a:t>Wholesalers</a:t>
            </a:r>
            <a:r>
              <a:rPr lang="en-GB" sz="2000">
                <a:solidFill>
                  <a:srgbClr val="000000"/>
                </a:solidFill>
              </a:rPr>
              <a:t>, Retailers, Dealers of Agricultural Products across India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GB" sz="2000">
                <a:solidFill>
                  <a:srgbClr val="000000"/>
                </a:solidFill>
              </a:rPr>
              <a:t>Owners of 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GB" sz="2000">
                <a:solidFill>
                  <a:srgbClr val="000000"/>
                </a:solidFill>
              </a:rPr>
              <a:t>Farmlands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GB" sz="2000">
                <a:solidFill>
                  <a:srgbClr val="000000"/>
                </a:solidFill>
              </a:rPr>
              <a:t>Orchard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GB" sz="2000">
                <a:solidFill>
                  <a:srgbClr val="000000"/>
                </a:solidFill>
              </a:rPr>
              <a:t>Gardens</a:t>
            </a:r>
            <a:endParaRPr sz="2000">
              <a:solidFill>
                <a:srgbClr val="000000"/>
              </a:solidFill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</a:pPr>
            <a:r>
              <a:rPr lang="en-GB" sz="2000">
                <a:solidFill>
                  <a:srgbClr val="000000"/>
                </a:solidFill>
              </a:rPr>
              <a:t>Urban Greening Agencies</a:t>
            </a:r>
            <a:endParaRPr sz="2000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29450" y="489575"/>
            <a:ext cx="70101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accent3"/>
                </a:solidFill>
              </a:rPr>
              <a:t>Deliverables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152" name="Google Shape;152;p25"/>
          <p:cNvSpPr txBox="1"/>
          <p:nvPr>
            <p:ph idx="4294967295" type="body"/>
          </p:nvPr>
        </p:nvSpPr>
        <p:spPr>
          <a:xfrm>
            <a:off x="729550" y="1580675"/>
            <a:ext cx="70101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PadCorp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Run Digital Campaign for new dealer engagement on all platforms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Google Ads/ Paid Ads on agriculture related platforms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Relevant keywords for stronger SEO to attract organic traffic across geographies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WhatsApp, Email Marketing to potential dealers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Run advertisement on local news channel for better reach in geographies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729450" y="489575"/>
            <a:ext cx="7010100" cy="6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accent3"/>
                </a:solidFill>
              </a:rPr>
              <a:t>Deliverables</a:t>
            </a:r>
            <a:endParaRPr sz="3000">
              <a:solidFill>
                <a:schemeClr val="accent3"/>
              </a:solidFill>
            </a:endParaRPr>
          </a:p>
        </p:txBody>
      </p:sp>
      <p:sp>
        <p:nvSpPr>
          <p:cNvPr id="158" name="Google Shape;158;p26"/>
          <p:cNvSpPr txBox="1"/>
          <p:nvPr>
            <p:ph idx="4294967295" type="body"/>
          </p:nvPr>
        </p:nvSpPr>
        <p:spPr>
          <a:xfrm>
            <a:off x="729550" y="1580675"/>
            <a:ext cx="70101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</a:rPr>
              <a:t>Existing and New Dealers</a:t>
            </a:r>
            <a:endParaRPr b="1"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Website development and maintenance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SEO in respective geographies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Content creation: Blogs, Posts, Reels, Videos, Infographics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Social media engagement on relevant platforms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Native online advertising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❏"/>
            </a:pPr>
            <a:r>
              <a:rPr lang="en-GB" sz="1600">
                <a:solidFill>
                  <a:srgbClr val="000000"/>
                </a:solidFill>
              </a:rPr>
              <a:t>Localized Marketing: Tailor marketing efforts to specific regions in India to address local needs and preferences.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idx="4294967295" type="body"/>
          </p:nvPr>
        </p:nvSpPr>
        <p:spPr>
          <a:xfrm>
            <a:off x="729450" y="1068650"/>
            <a:ext cx="7688700" cy="38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200">
                <a:solidFill>
                  <a:srgbClr val="000000"/>
                </a:solidFill>
              </a:rPr>
              <a:t>Thank  you</a:t>
            </a:r>
            <a:endParaRPr b="1" sz="7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72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Discover . Learn . Evolve</a:t>
            </a:r>
            <a:endParaRPr b="1" sz="2200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6FA8D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www.globalinfocloud.com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451" y="2799900"/>
            <a:ext cx="2517099" cy="10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